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71" r:id="rId3"/>
    <p:sldId id="266" r:id="rId4"/>
    <p:sldId id="258" r:id="rId5"/>
    <p:sldId id="267" r:id="rId6"/>
    <p:sldId id="268" r:id="rId7"/>
    <p:sldId id="269" r:id="rId8"/>
    <p:sldId id="272" r:id="rId9"/>
    <p:sldId id="273" r:id="rId10"/>
    <p:sldId id="274" r:id="rId11"/>
    <p:sldId id="257" r:id="rId12"/>
    <p:sldId id="256" r:id="rId13"/>
    <p:sldId id="259" r:id="rId14"/>
    <p:sldId id="260" r:id="rId15"/>
    <p:sldId id="261" r:id="rId16"/>
    <p:sldId id="262" r:id="rId17"/>
    <p:sldId id="275" r:id="rId18"/>
    <p:sldId id="263" r:id="rId19"/>
    <p:sldId id="264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8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9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7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1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3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9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7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3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8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2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3F588-1F99-4370-B856-747FC38EE294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5DFBF-A7CC-4AFD-BB3F-C0678397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6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Dev Mapping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Impact Analysis using LLM + JSON Repair +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Manual impact analysis is slow and error‑prone</a:t>
            </a:r>
          </a:p>
          <a:p>
            <a:pPr lvl="1"/>
            <a:r>
              <a:t>Developers must search across modules, files, and dependencies</a:t>
            </a:r>
          </a:p>
          <a:p>
            <a:pPr lvl="1"/>
            <a:r>
              <a:t>Hard to identify regression areas and test cases</a:t>
            </a:r>
          </a:p>
          <a:p>
            <a:pPr lvl="1"/>
            <a:r>
              <a:t>No centralized mapping between requirements and codebase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Automated analyzer to read Jira requirements</a:t>
            </a:r>
          </a:p>
          <a:p>
            <a:pPr lvl="1"/>
            <a:r>
              <a:rPr dirty="0"/>
              <a:t>LLM-based impact analysis using </a:t>
            </a:r>
            <a:r>
              <a:rPr dirty="0" err="1"/>
              <a:t>Groq</a:t>
            </a:r>
            <a:r>
              <a:rPr dirty="0"/>
              <a:t> + JSON repair</a:t>
            </a:r>
          </a:p>
          <a:p>
            <a:pPr lvl="1"/>
            <a:r>
              <a:rPr lang="en-US" dirty="0"/>
              <a:t>Developer–module mapping for precise impact prediction (</a:t>
            </a:r>
            <a:r>
              <a:rPr dirty="0" err="1"/>
              <a:t>developer_mapping.json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Automated file-level regression identification</a:t>
            </a:r>
          </a:p>
          <a:p>
            <a:pPr lvl="1"/>
            <a:r>
              <a:rPr lang="en-US" dirty="0"/>
              <a:t>Generates PDF reports</a:t>
            </a:r>
          </a:p>
          <a:p>
            <a:pPr lvl="1"/>
            <a:endParaRPr lang="en-US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main.py orchestrates full flow</a:t>
            </a:r>
          </a:p>
          <a:p>
            <a:pPr lvl="1"/>
            <a:r>
              <a:t>groq_client.py handles LLM requests</a:t>
            </a:r>
          </a:p>
          <a:p>
            <a:pPr lvl="1"/>
            <a:r>
              <a:t>analyzer.py performs logic + JSON repair</a:t>
            </a:r>
          </a:p>
          <a:p>
            <a:pPr lvl="1"/>
            <a:r>
              <a:t>report_generator.py exports PDF</a:t>
            </a:r>
          </a:p>
          <a:p>
            <a:pPr lvl="1"/>
            <a:r>
              <a:t>developer_mapping.json maps ownership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response repair to avoid JSON failures</a:t>
            </a:r>
          </a:p>
          <a:p>
            <a:pPr lvl="1"/>
            <a:r>
              <a:t>Deterministic structure: impact_report{}</a:t>
            </a:r>
          </a:p>
          <a:p>
            <a:pPr lvl="1"/>
            <a:r>
              <a:t>Generates human-ready PDF report</a:t>
            </a:r>
          </a:p>
          <a:p>
            <a:pPr lvl="1"/>
            <a:r>
              <a:t>Supports any future model (Llama3.3 etc.)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Diagram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Jira Text → Analyzer → </a:t>
            </a:r>
            <a:r>
              <a:rPr lang="en-US" dirty="0" err="1"/>
              <a:t>Groq</a:t>
            </a:r>
            <a:r>
              <a:rPr lang="en-US" dirty="0"/>
              <a:t> LLM → Impact JSON → Report Generator → PDF/PPT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developer_mapping.json – Developer ownership map</a:t>
            </a:r>
          </a:p>
          <a:p>
            <a:pPr lvl="1"/>
            <a:r>
              <a:t>analyzer.py – Impact analyzer</a:t>
            </a:r>
          </a:p>
          <a:p>
            <a:pPr lvl="1"/>
            <a:r>
              <a:t>groq_client.py – Groq API handler</a:t>
            </a:r>
          </a:p>
          <a:p>
            <a:pPr lvl="1"/>
            <a:r>
              <a:t>report_generator.py – PDF generator</a:t>
            </a:r>
          </a:p>
          <a:p>
            <a:pPr lvl="1"/>
            <a:r>
              <a:t>main.py – Program entrypoint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Jira Story: Add new limit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Impacted Modules: ModuleA, ModuleB, ModuleC</a:t>
            </a:r>
          </a:p>
          <a:p>
            <a:pPr lvl="1"/>
            <a:r>
              <a:t>Regression Areas: 5 file-level hotspots</a:t>
            </a:r>
          </a:p>
          <a:p>
            <a:pPr lvl="1"/>
            <a:r>
              <a:t>Risk Level: Medium</a:t>
            </a:r>
          </a:p>
          <a:p>
            <a:pPr lvl="1"/>
            <a:r>
              <a:t>Auto-generated test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90% reduction in effort for analysis</a:t>
            </a:r>
          </a:p>
          <a:p>
            <a:pPr lvl="1"/>
            <a:r>
              <a:t>Consistent and audit-ready impact reports</a:t>
            </a:r>
          </a:p>
          <a:p>
            <a:pPr lvl="1"/>
            <a:r>
              <a:t>Easy onboarding for new developers</a:t>
            </a:r>
          </a:p>
          <a:p>
            <a:pPr lvl="1"/>
            <a:r>
              <a:t>Exportable insights for QA and leadership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41AC2-B506-CE72-ED1D-488962E4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56539C-DFF9-585B-1A28-B6AC3FB1C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699022"/>
            <a:ext cx="6858000" cy="1790700"/>
          </a:xfrm>
        </p:spPr>
        <p:txBody>
          <a:bodyPr>
            <a:normAutofit fontScale="90000"/>
          </a:bodyPr>
          <a:lstStyle/>
          <a:p>
            <a:r>
              <a:rPr dirty="0"/>
              <a:t>Impact Analysis System - Flow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4636B-2B8A-9D8B-F5B2-3E18AADDE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Modules A, B, C, D • Use Case Demonstration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98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86C952-01E0-8FD3-6A4B-8D3B6E0FE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026" y="838721"/>
            <a:ext cx="5652821" cy="539429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Overview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65BEE-DBA3-18EE-6DBD-3F4328AD8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065" y="1638604"/>
            <a:ext cx="6858000" cy="3231490"/>
          </a:xfrm>
        </p:spPr>
        <p:txBody>
          <a:bodyPr>
            <a:normAutofit/>
          </a:bodyPr>
          <a:lstStyle/>
          <a:p>
            <a:pPr algn="l"/>
            <a:endParaRPr lang="en-US" sz="3200" dirty="0"/>
          </a:p>
          <a:p>
            <a:pPr algn="l"/>
            <a:r>
              <a:rPr lang="en-US" sz="3200" dirty="0"/>
              <a:t>• Module A – Transfer Service</a:t>
            </a:r>
          </a:p>
          <a:p>
            <a:pPr algn="l"/>
            <a:r>
              <a:rPr lang="en-US" sz="3200" dirty="0"/>
              <a:t>• Module B – Risk &amp; Compliance</a:t>
            </a:r>
          </a:p>
          <a:p>
            <a:pPr algn="l"/>
            <a:r>
              <a:rPr lang="en-US" sz="3200" dirty="0"/>
              <a:t>• Module C – Core Banking System</a:t>
            </a:r>
          </a:p>
          <a:p>
            <a:pPr algn="l"/>
            <a:r>
              <a:rPr lang="en-US" sz="3200" dirty="0"/>
              <a:t>• Module D – Notification</a:t>
            </a:r>
          </a:p>
        </p:txBody>
      </p:sp>
    </p:spTree>
    <p:extLst>
      <p:ext uri="{BB962C8B-B14F-4D97-AF65-F5344CB8AC3E}">
        <p14:creationId xmlns:p14="http://schemas.microsoft.com/office/powerpoint/2010/main" val="3472048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5A89-CC5E-9817-A3EF-7A8CBB07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9D552E-18B6-87AB-FEB8-1FD09AA60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4086" y="838721"/>
            <a:ext cx="9436608" cy="539429"/>
          </a:xfrm>
        </p:spPr>
        <p:txBody>
          <a:bodyPr>
            <a:noAutofit/>
          </a:bodyPr>
          <a:lstStyle/>
          <a:p>
            <a:r>
              <a:rPr lang="en-US" sz="4800" dirty="0"/>
              <a:t>System Flow (Simplified Diagram)</a:t>
            </a:r>
            <a:endParaRPr sz="4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11AD2E-F84C-7144-EC47-7CFD8E9B4A7F}"/>
              </a:ext>
            </a:extLst>
          </p:cNvPr>
          <p:cNvSpPr/>
          <p:nvPr/>
        </p:nvSpPr>
        <p:spPr>
          <a:xfrm>
            <a:off x="2745028" y="1396437"/>
            <a:ext cx="2969971" cy="1236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Module A</a:t>
            </a:r>
            <a:br>
              <a:rPr lang="en-US" dirty="0"/>
            </a:br>
            <a:r>
              <a:rPr lang="en-US" dirty="0"/>
              <a:t>Transfer Service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FE9-1B01-5E6C-B8A4-8102FFB0FDC6}"/>
              </a:ext>
            </a:extLst>
          </p:cNvPr>
          <p:cNvSpPr/>
          <p:nvPr/>
        </p:nvSpPr>
        <p:spPr>
          <a:xfrm>
            <a:off x="475488" y="3599078"/>
            <a:ext cx="2275027" cy="1316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Module B</a:t>
            </a:r>
            <a:br>
              <a:rPr lang="en-US" dirty="0"/>
            </a:br>
            <a:r>
              <a:rPr lang="en-US" dirty="0"/>
              <a:t>Risk &amp; Compliance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752C55-95A1-0779-188C-05CC81A388F9}"/>
              </a:ext>
            </a:extLst>
          </p:cNvPr>
          <p:cNvSpPr/>
          <p:nvPr/>
        </p:nvSpPr>
        <p:spPr>
          <a:xfrm>
            <a:off x="3097987" y="3599078"/>
            <a:ext cx="2275027" cy="1316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Module C</a:t>
            </a:r>
            <a:br>
              <a:rPr lang="en-US" dirty="0"/>
            </a:br>
            <a:r>
              <a:rPr lang="en-US" dirty="0"/>
              <a:t>Core Banking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870D1-BFAB-AB69-6F7D-AA7E9951379B}"/>
              </a:ext>
            </a:extLst>
          </p:cNvPr>
          <p:cNvSpPr/>
          <p:nvPr/>
        </p:nvSpPr>
        <p:spPr>
          <a:xfrm>
            <a:off x="5720486" y="3599078"/>
            <a:ext cx="2275027" cy="1316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Module D</a:t>
            </a:r>
            <a:br>
              <a:rPr lang="en-US" dirty="0"/>
            </a:br>
            <a:r>
              <a:rPr lang="en-US" dirty="0"/>
              <a:t>Notification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F0D09-2958-AA29-24C7-0F998F03F71C}"/>
              </a:ext>
            </a:extLst>
          </p:cNvPr>
          <p:cNvSpPr/>
          <p:nvPr/>
        </p:nvSpPr>
        <p:spPr>
          <a:xfrm>
            <a:off x="3204058" y="5552236"/>
            <a:ext cx="2051913" cy="10375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OutBound</a:t>
            </a:r>
            <a:r>
              <a:rPr lang="en-US" dirty="0"/>
              <a:t> Feeds</a:t>
            </a:r>
            <a:br>
              <a:rPr lang="en-US" dirty="0"/>
            </a:br>
            <a:r>
              <a:rPr lang="en-US" dirty="0"/>
              <a:t>(External Systems)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A02607-4852-A64C-F192-AE5D91126C33}"/>
              </a:ext>
            </a:extLst>
          </p:cNvPr>
          <p:cNvCxnSpPr/>
          <p:nvPr/>
        </p:nvCxnSpPr>
        <p:spPr>
          <a:xfrm>
            <a:off x="4235500" y="2918765"/>
            <a:ext cx="0" cy="510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8CCFC8-C0C6-27D1-379D-6851EF2E469F}"/>
              </a:ext>
            </a:extLst>
          </p:cNvPr>
          <p:cNvCxnSpPr/>
          <p:nvPr/>
        </p:nvCxnSpPr>
        <p:spPr>
          <a:xfrm>
            <a:off x="1850746" y="2918765"/>
            <a:ext cx="5007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52CBD1-6639-09EE-FD9B-C929F7D252EB}"/>
              </a:ext>
            </a:extLst>
          </p:cNvPr>
          <p:cNvCxnSpPr/>
          <p:nvPr/>
        </p:nvCxnSpPr>
        <p:spPr>
          <a:xfrm>
            <a:off x="1850746" y="2918765"/>
            <a:ext cx="0" cy="510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8C5353-F9A2-DFDE-5348-21FC5860936B}"/>
              </a:ext>
            </a:extLst>
          </p:cNvPr>
          <p:cNvCxnSpPr/>
          <p:nvPr/>
        </p:nvCxnSpPr>
        <p:spPr>
          <a:xfrm>
            <a:off x="6842149" y="2918764"/>
            <a:ext cx="0" cy="510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3804BBD-3613-55FF-F0D2-6F4AD0BBCCF1}"/>
              </a:ext>
            </a:extLst>
          </p:cNvPr>
          <p:cNvCxnSpPr>
            <a:cxnSpLocks/>
          </p:cNvCxnSpPr>
          <p:nvPr/>
        </p:nvCxnSpPr>
        <p:spPr>
          <a:xfrm>
            <a:off x="4230013" y="2641701"/>
            <a:ext cx="0" cy="27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1E427D3-F4F8-9458-45BD-60BBD201916A}"/>
              </a:ext>
            </a:extLst>
          </p:cNvPr>
          <p:cNvCxnSpPr/>
          <p:nvPr/>
        </p:nvCxnSpPr>
        <p:spPr>
          <a:xfrm>
            <a:off x="4214163" y="4915814"/>
            <a:ext cx="0" cy="510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563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4D2D-5443-432A-C851-EE7F6176C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 Case 1 — </a:t>
            </a:r>
            <a:r>
              <a:rPr lang="en-US" sz="3600" dirty="0"/>
              <a:t>New business rule: Add weekly transfer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AB9BF-DF27-0184-DB03-CE54B7079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u="sng" dirty="0"/>
              <a:t>JIRA Text:</a:t>
            </a:r>
            <a:br>
              <a:rPr lang="en-US" dirty="0"/>
            </a:br>
            <a:r>
              <a:rPr lang="en-US" sz="2000" dirty="0"/>
              <a:t>Add a new weekly transfer limit validation on top of existing daily and per-transaction limits.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u="sng" dirty="0"/>
              <a:t>AI Expected Impact:</a:t>
            </a:r>
          </a:p>
          <a:p>
            <a:r>
              <a:rPr lang="en-US" sz="2000" dirty="0"/>
              <a:t>Hits </a:t>
            </a:r>
            <a:r>
              <a:rPr lang="en-US" sz="2000" b="1" dirty="0" err="1"/>
              <a:t>transfer_limit_check</a:t>
            </a:r>
            <a:r>
              <a:rPr lang="en-US" sz="2000" dirty="0"/>
              <a:t> in Module A</a:t>
            </a:r>
          </a:p>
          <a:p>
            <a:r>
              <a:rPr lang="en-US" sz="2000" dirty="0"/>
              <a:t>Downstream impacts: Module B, C, D</a:t>
            </a:r>
          </a:p>
          <a:p>
            <a:r>
              <a:rPr lang="en-US" sz="2000" dirty="0"/>
              <a:t>Risk scoring, ledger posting, notifications all impacted</a:t>
            </a:r>
          </a:p>
          <a:p>
            <a:r>
              <a:rPr lang="en-US" sz="2000" dirty="0"/>
              <a:t>Regression widely impacted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24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7AE2D-71DC-4768-DA04-C4A5610E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ECB7-4153-7674-7AF2-C2E516A25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 Case 2 — </a:t>
            </a:r>
            <a:r>
              <a:rPr lang="en-US" sz="3600" dirty="0"/>
              <a:t>Enable partner validation before beneficiary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F42D0-C686-7792-0CB0-927329AB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u="sng" dirty="0"/>
              <a:t>JIRA Text:</a:t>
            </a:r>
            <a:br>
              <a:rPr lang="en-US" dirty="0"/>
            </a:br>
            <a:r>
              <a:rPr lang="en-US" sz="2000" dirty="0"/>
              <a:t>Before validating a beneficiary, perform a partner system validation check with new risk parameters.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u="sng" dirty="0"/>
              <a:t>AI Expected Impact:</a:t>
            </a:r>
          </a:p>
          <a:p>
            <a:r>
              <a:rPr lang="en-US" sz="2000" dirty="0"/>
              <a:t>Hits </a:t>
            </a:r>
            <a:r>
              <a:rPr lang="en-US" sz="2000" b="1" dirty="0" err="1"/>
              <a:t>partner_validation</a:t>
            </a:r>
            <a:r>
              <a:rPr lang="en-US" sz="2000" dirty="0"/>
              <a:t> in Module B (upstream of </a:t>
            </a:r>
            <a:r>
              <a:rPr lang="en-US" sz="2000" dirty="0" err="1"/>
              <a:t>beneficiary_validation</a:t>
            </a:r>
            <a:r>
              <a:rPr lang="en-US" sz="2000" dirty="0"/>
              <a:t>)</a:t>
            </a:r>
          </a:p>
          <a:p>
            <a:r>
              <a:rPr lang="en-US" sz="2000" dirty="0"/>
              <a:t>Impacts Module A → </a:t>
            </a:r>
            <a:r>
              <a:rPr lang="en-US" sz="2000" dirty="0" err="1"/>
              <a:t>beneficiary_validation</a:t>
            </a:r>
            <a:endParaRPr lang="en-US" sz="2000" dirty="0"/>
          </a:p>
          <a:p>
            <a:r>
              <a:rPr lang="en-US" sz="2000" dirty="0"/>
              <a:t>Downstream: Module C + Module D (notifications + audit logging)</a:t>
            </a:r>
          </a:p>
          <a:p>
            <a:endParaRPr lang="en-US" sz="2000" b="1" u="sng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16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30B4-8703-015F-9D18-C8375349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F7C2-6369-81F4-9921-F5B137FC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Use Case 3 — </a:t>
            </a:r>
            <a:r>
              <a:rPr lang="en-US" sz="3600" dirty="0"/>
              <a:t>Enhance transaction posting to support new external outbound feed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3E0D6-40B1-003A-A763-33810986F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u="sng" dirty="0"/>
              <a:t>JIRA Text:</a:t>
            </a:r>
            <a:br>
              <a:rPr lang="en-US" dirty="0"/>
            </a:br>
            <a:r>
              <a:rPr lang="en-US" sz="2000" dirty="0"/>
              <a:t>Update transaction posting so that it generates an additional outbound feed in the new XML format for regulatory reporting.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u="sng" dirty="0"/>
              <a:t>AI Expected Impact:</a:t>
            </a:r>
          </a:p>
          <a:p>
            <a:r>
              <a:rPr lang="en-US" sz="2000" dirty="0"/>
              <a:t>Hits </a:t>
            </a:r>
            <a:r>
              <a:rPr lang="en-US" sz="2000" b="1" dirty="0" err="1"/>
              <a:t>transaction_posting_trigger</a:t>
            </a:r>
            <a:r>
              <a:rPr lang="en-US" sz="2000" dirty="0"/>
              <a:t> + </a:t>
            </a:r>
            <a:r>
              <a:rPr lang="en-US" sz="2000" b="1" dirty="0" err="1"/>
              <a:t>ledger_posting</a:t>
            </a:r>
            <a:r>
              <a:rPr lang="en-US" sz="2000" dirty="0"/>
              <a:t> in Module C</a:t>
            </a:r>
          </a:p>
          <a:p>
            <a:r>
              <a:rPr lang="en-US" sz="2000" dirty="0"/>
              <a:t>Outbound feeds also impacted</a:t>
            </a:r>
          </a:p>
          <a:p>
            <a:r>
              <a:rPr lang="en-US" sz="2000" dirty="0"/>
              <a:t>Notifications still triggered</a:t>
            </a:r>
          </a:p>
          <a:p>
            <a:r>
              <a:rPr lang="en-US" sz="2000" dirty="0"/>
              <a:t>No effect on limit checks or fraud scoring</a:t>
            </a:r>
          </a:p>
          <a:p>
            <a:endParaRPr lang="en-US" sz="2000" b="1" u="sng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335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74BB-BFE5-60C0-C62A-135F03B5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3E89-203F-491D-A7C3-297AE078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Use Case 4 — </a:t>
            </a:r>
            <a:r>
              <a:rPr lang="en-US" sz="3600" dirty="0"/>
              <a:t>Revamp transaction posting logic including limit validation and risk scoring pipeline.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14BBE-D4B4-5606-CE1A-40598A245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b="1" u="sng" dirty="0"/>
              <a:t>JIRA Text:</a:t>
            </a:r>
            <a:br>
              <a:rPr lang="en-US" dirty="0"/>
            </a:br>
            <a:r>
              <a:rPr lang="en-US" sz="2000" dirty="0"/>
              <a:t>Revamp transaction posting logic including limit validation and risk scoring pipeline.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u="sng" dirty="0"/>
              <a:t>AI Expected Impact:</a:t>
            </a:r>
          </a:p>
          <a:p>
            <a:r>
              <a:rPr lang="en-US" sz="2000" b="1" dirty="0"/>
              <a:t>Expected impacted modules: A, B, C, D</a:t>
            </a:r>
            <a:br>
              <a:rPr lang="en-US" sz="2000" dirty="0"/>
            </a:br>
            <a:r>
              <a:rPr lang="en-US" sz="2000" b="1" dirty="0"/>
              <a:t>Risk: HIGH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b="1" u="sng" dirty="0"/>
              <a:t>Why high-risk?</a:t>
            </a:r>
          </a:p>
          <a:p>
            <a:r>
              <a:rPr lang="en-US" sz="2000" dirty="0"/>
              <a:t>Touches </a:t>
            </a:r>
            <a:r>
              <a:rPr lang="en-US" sz="2000" b="1" dirty="0" err="1"/>
              <a:t>transfer_limit_check</a:t>
            </a:r>
            <a:endParaRPr lang="en-US" sz="2000" dirty="0"/>
          </a:p>
          <a:p>
            <a:r>
              <a:rPr lang="en-US" sz="2000" dirty="0"/>
              <a:t>Touches </a:t>
            </a:r>
            <a:r>
              <a:rPr lang="en-US" sz="2000" b="1" dirty="0" err="1"/>
              <a:t>transaction_posting_trigger</a:t>
            </a:r>
            <a:endParaRPr lang="en-US" sz="2000" dirty="0"/>
          </a:p>
          <a:p>
            <a:r>
              <a:rPr lang="en-US" sz="2000" dirty="0"/>
              <a:t>Touches </a:t>
            </a:r>
            <a:r>
              <a:rPr lang="en-US" sz="2000" b="1" dirty="0" err="1"/>
              <a:t>fraud_risk_scoring</a:t>
            </a:r>
            <a:endParaRPr lang="en-US" sz="2000" dirty="0"/>
          </a:p>
          <a:p>
            <a:r>
              <a:rPr lang="en-US" sz="2000" dirty="0"/>
              <a:t>Impacts notifications + outbound feeds</a:t>
            </a:r>
          </a:p>
          <a:p>
            <a:r>
              <a:rPr lang="en-US" sz="2000" dirty="0"/>
              <a:t>Ledger posting highly affected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b="1" u="sng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9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23C20-6A4A-6F2A-EC57-188169DD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570586"/>
            <a:ext cx="8039862" cy="5606377"/>
          </a:xfrm>
        </p:spPr>
        <p:txBody>
          <a:bodyPr>
            <a:normAutofit/>
          </a:bodyPr>
          <a:lstStyle/>
          <a:p>
            <a:r>
              <a:rPr lang="en-US" sz="2000" b="1" dirty="0"/>
              <a:t>Developer Mapping JSON – Structure Explanation</a:t>
            </a:r>
          </a:p>
          <a:p>
            <a:pPr marL="0" indent="0">
              <a:buNone/>
            </a:pPr>
            <a:r>
              <a:rPr lang="en-US" sz="2000" dirty="0"/>
              <a:t>The mapping file works as a </a:t>
            </a:r>
            <a:r>
              <a:rPr lang="en-US" sz="2000" b="1" dirty="0"/>
              <a:t>Knowledge Graph of your application architecture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It captures:</a:t>
            </a:r>
          </a:p>
          <a:p>
            <a:r>
              <a:rPr lang="en-US" sz="2000" b="1" dirty="0"/>
              <a:t>Modules</a:t>
            </a:r>
            <a:r>
              <a:rPr lang="en-US" sz="2000" dirty="0"/>
              <a:t> → high-level system components</a:t>
            </a:r>
          </a:p>
          <a:p>
            <a:r>
              <a:rPr lang="en-US" sz="2000" b="1" dirty="0"/>
              <a:t>Features</a:t>
            </a:r>
            <a:r>
              <a:rPr lang="en-US" sz="2000" dirty="0"/>
              <a:t> → business features inside each module</a:t>
            </a:r>
          </a:p>
          <a:p>
            <a:r>
              <a:rPr lang="en-US" sz="2000" b="1" dirty="0"/>
              <a:t>Descriptions</a:t>
            </a:r>
            <a:r>
              <a:rPr lang="en-US" sz="2000" dirty="0"/>
              <a:t> → what each feature does</a:t>
            </a:r>
          </a:p>
          <a:p>
            <a:r>
              <a:rPr lang="en-US" sz="2000" b="1" dirty="0"/>
              <a:t>Code locations</a:t>
            </a:r>
            <a:r>
              <a:rPr lang="en-US" sz="2000" dirty="0"/>
              <a:t> → exact files &amp; functions related to that feature</a:t>
            </a:r>
          </a:p>
          <a:p>
            <a:r>
              <a:rPr lang="en-US" sz="2000" b="1" dirty="0"/>
              <a:t>Dependencies</a:t>
            </a:r>
            <a:endParaRPr lang="en-US" sz="2000" dirty="0"/>
          </a:p>
          <a:p>
            <a:pPr lvl="1"/>
            <a:r>
              <a:rPr lang="en-US" sz="1800" b="1" dirty="0"/>
              <a:t>upstream</a:t>
            </a:r>
            <a:r>
              <a:rPr lang="en-US" sz="1800" dirty="0"/>
              <a:t> → feature depends on another module</a:t>
            </a:r>
          </a:p>
          <a:p>
            <a:pPr lvl="1"/>
            <a:r>
              <a:rPr lang="en-US" sz="1800" b="1" dirty="0"/>
              <a:t>downstream</a:t>
            </a:r>
            <a:r>
              <a:rPr lang="en-US" sz="1800" dirty="0"/>
              <a:t> → feature changes affect other modules</a:t>
            </a:r>
          </a:p>
          <a:p>
            <a:pPr lvl="1"/>
            <a:r>
              <a:rPr lang="en-US" sz="1800" b="1" dirty="0" err="1"/>
              <a:t>depends_on</a:t>
            </a:r>
            <a:r>
              <a:rPr lang="en-US" sz="1800" dirty="0"/>
              <a:t> → internal logical link</a:t>
            </a:r>
          </a:p>
          <a:p>
            <a:pPr marL="0" indent="0">
              <a:buNone/>
            </a:pPr>
            <a:r>
              <a:rPr lang="en-US" sz="2000" dirty="0"/>
              <a:t>This ensures AI can return consistent impact analysis without scanning code.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1138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E763-3548-04EB-645E-34E323B7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rgbClr val="171717"/>
          </a:solidFill>
        </p:spPr>
        <p:txBody>
          <a:bodyPr>
            <a:normAutofit/>
          </a:bodyPr>
          <a:lstStyle/>
          <a:p>
            <a:endParaRPr lang="en-US" dirty="0">
              <a:solidFill>
                <a:srgbClr val="171717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73289-52FE-1EC3-9B83-E07234AE7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982"/>
            <a:ext cx="6334963" cy="504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92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6EC674-6A6D-477E-606B-7E85FC752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" t="6613" r="-195" b="960"/>
          <a:stretch>
            <a:fillRect/>
          </a:stretch>
        </p:blipFill>
        <p:spPr>
          <a:xfrm>
            <a:off x="146600" y="477274"/>
            <a:ext cx="7519431" cy="63386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C4B9D6-0769-181C-3F23-AE3E3F8143B7}"/>
              </a:ext>
            </a:extLst>
          </p:cNvPr>
          <p:cNvSpPr txBox="1"/>
          <p:nvPr/>
        </p:nvSpPr>
        <p:spPr>
          <a:xfrm>
            <a:off x="438912" y="107942"/>
            <a:ext cx="3933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Generated Impact Analysis PDF Report:</a:t>
            </a:r>
          </a:p>
        </p:txBody>
      </p:sp>
    </p:spTree>
    <p:extLst>
      <p:ext uri="{BB962C8B-B14F-4D97-AF65-F5344CB8AC3E}">
        <p14:creationId xmlns:p14="http://schemas.microsoft.com/office/powerpoint/2010/main" val="165691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</TotalTime>
  <Words>729</Words>
  <Application>Microsoft Office PowerPoint</Application>
  <PresentationFormat>On-screen Show (4:3)</PresentationFormat>
  <Paragraphs>107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Impact Dev Mapping Project</vt:lpstr>
      <vt:lpstr>Problem Statement</vt:lpstr>
      <vt:lpstr>Overview</vt:lpstr>
      <vt:lpstr>Architecture</vt:lpstr>
      <vt:lpstr>Key Features</vt:lpstr>
      <vt:lpstr>Flow Diagram</vt:lpstr>
      <vt:lpstr>Folder Structure</vt:lpstr>
      <vt:lpstr>Sample Input</vt:lpstr>
      <vt:lpstr>Sample Output Summary</vt:lpstr>
      <vt:lpstr>Benefits</vt:lpstr>
      <vt:lpstr>Impact Analysis System - Flow Overview</vt:lpstr>
      <vt:lpstr>Module Overview</vt:lpstr>
      <vt:lpstr>System Flow (Simplified Diagram)</vt:lpstr>
      <vt:lpstr>Use Case 1 — New business rule: Add weekly transfer limit</vt:lpstr>
      <vt:lpstr>Use Case 2 — Enable partner validation before beneficiary approval</vt:lpstr>
      <vt:lpstr>Use Case 3 — Enhance transaction posting to support new external outbound feed format</vt:lpstr>
      <vt:lpstr>Use Case 4 — Revamp transaction posting logic including limit validation and risk scoring pipeline.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Annie Jasmine</dc:creator>
  <cp:lastModifiedBy>Annie Jasmine</cp:lastModifiedBy>
  <cp:revision>5</cp:revision>
  <dcterms:created xsi:type="dcterms:W3CDTF">2025-11-21T13:04:07Z</dcterms:created>
  <dcterms:modified xsi:type="dcterms:W3CDTF">2025-11-21T14:07:54Z</dcterms:modified>
</cp:coreProperties>
</file>